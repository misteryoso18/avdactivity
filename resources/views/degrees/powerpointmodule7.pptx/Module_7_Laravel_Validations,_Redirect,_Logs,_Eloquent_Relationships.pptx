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27" r:id="rId3"/>
    <p:sldId id="340" r:id="rId4"/>
    <p:sldId id="341" r:id="rId5"/>
    <p:sldId id="342" r:id="rId6"/>
    <p:sldId id="343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1"/>
    <p:restoredTop sz="94603"/>
  </p:normalViewPr>
  <p:slideViewPr>
    <p:cSldViewPr snapToGrid="0">
      <p:cViewPr varScale="1">
        <p:scale>
          <a:sx n="102" d="100"/>
          <a:sy n="102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65C9F-57D4-324F-A486-70DC817B59C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8D46D-5B54-7042-84A8-824B2E3B1639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7949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8D46D-5B54-7042-84A8-824B2E3B1639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2098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D315-9489-70D7-1C9D-AD3D73EBA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99408-BC4E-544D-F326-D2EAC7C88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FECA9-97CA-CDEE-8688-7C2A48FB5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1AEB0-C328-FAA7-4226-B70293DB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A437B-1050-54EB-4A1E-F460F49A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7303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17124-A7D2-95D8-26A6-22C974B75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29B17-AB3A-F559-0EDE-223D16309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1F332-563D-6403-D4E2-E2E7FAE05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B7E93-F497-593C-9522-A9CAF45A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72F5A-1321-8973-3511-2DAFD40B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063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6A98B-BDFB-EA1C-AAF2-86E0B8281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1F2BE-ECFC-F50D-1BE3-EEFD48D36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E320F-5BD7-7524-2EDD-FFA2E5E7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EFCFE-7359-76F6-3A68-975ED6B2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DC06-3988-900F-5891-B69B3A16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8505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F2FB-CC13-04C6-1AF3-680F988F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41597-B1AF-D91A-959A-10BD3D5C2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2A0A0-B4E6-4DD0-5D19-238E49B8B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1B515-6DEE-BB1A-ECFC-0A021411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A8DA6-A0CB-F309-733F-219C262A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A914F-BD55-3320-F7CD-6F031846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9935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F3BE-DD5A-971C-E9A1-7451F668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31AE4-04BD-8AC3-2685-738589524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E301E-0B75-2FE4-10FB-1E19CDC62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938DD-5BB0-759C-32A3-46C332573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595506-8BF1-E793-58F5-6E3AB122E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B54EAB-C71B-5B0E-4852-084A80AA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0C3C51-058F-5E57-7E76-ED5731C9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5ADA2-0445-1810-AE14-4BF99D5D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7118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3A7F-6D7E-5A93-2F2F-F191FB97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1FFDE-AB1D-D523-E4F7-13ADDC33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1F48B-C819-A412-0D68-B591335A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18F81-F711-2FB6-094F-753FFC28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6738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C7EEA-D52E-81FD-D160-629B9CDB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1352E-6B27-3EA4-80E4-0F047694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ED173-5DA9-0801-01E7-A692A6C2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9088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C8E6-DBD9-F4F4-0D90-F014E9B8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EF6B3-7943-8A52-4249-FCE1B1604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1CD53-5082-6A24-318D-C47031FC9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DC14D-C761-8E86-189B-9F877074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64EAA-FFA7-752B-C272-ECB870F2D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2903-E917-6795-FF97-DAC54E19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48690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82EA-0B4A-2C73-E0A5-E6128DC8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BA20D-EC9B-DCF5-6FE9-2365452D5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5C745-3276-BC8C-FE6C-875A614B1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F7C6F-FEA0-8FB0-8E20-42FAD0C8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84576-C855-480C-C330-61CC8391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D6176-7CED-5C0F-024C-DAC6151C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1604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63D1-B61E-4E3D-7AF0-A26C3F6D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FB9A7-CC8E-6FE5-AC8C-40593B31C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18B5-8D60-F8E1-7B82-DC92B07F5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3BC32-53B1-AE6E-9F87-56CDDEE0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73136-7E4B-49FC-3BFA-2989D009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2804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CEF4E9-78D9-3A30-FA19-A82BA12E5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9CC1D-8645-BB0B-2862-3F067926D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24AA0-95E8-8558-BA0D-78211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5D9AF-B089-6945-DB46-78720FA1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A10BF-A4F4-7030-DAEA-CD520644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53321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309EF-58C9-3AF8-A72B-FB4A3087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C7AD9-6A64-6487-49FF-29743D803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A8549-B7B4-E740-0BA8-1265AFE21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EDBC7-9EB3-1A42-9BB9-820DAD33A766}" type="datetimeFigureOut">
              <a:rPr lang="en-TW" smtClean="0"/>
              <a:t>2026/3/30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CB681-02B7-F089-1B8C-CCB1BE5F9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8237A-0C15-7545-01DA-87452C1BE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14098-DDBD-204E-A192-91B24DB0681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590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1FCBC1CD-04A9-3D38-FA0A-E22BEE5E26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248569" y="408531"/>
            <a:ext cx="5694862" cy="5694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079402-2681-B914-D60B-1EF5ED1D6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8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Laravel Validations, Redirect, Logs, Eloquent Relationships</a:t>
            </a:r>
            <a:endParaRPr lang="en-TW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FB8EA-FF4E-DB7A-2F55-FAE20D65D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89228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ELECTIVE 1 - WEB SYSTEMS AND TECHNOLOGIES 2 </a:t>
            </a:r>
          </a:p>
          <a:p>
            <a:r>
              <a:rPr lang="en-US" dirty="0"/>
              <a:t>Module 7 </a:t>
            </a:r>
          </a:p>
          <a:p>
            <a:r>
              <a:rPr lang="en-US" dirty="0"/>
              <a:t>NCMH</a:t>
            </a:r>
            <a:endParaRPr lang="en-TW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DBB932-8D74-E4B5-02E8-AD3E4B6BC28A}"/>
              </a:ext>
            </a:extLst>
          </p:cNvPr>
          <p:cNvSpPr/>
          <p:nvPr/>
        </p:nvSpPr>
        <p:spPr>
          <a:xfrm>
            <a:off x="-1901178" y="5416204"/>
            <a:ext cx="3348978" cy="528786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624270-8449-282B-6BDC-14C9243E0092}"/>
              </a:ext>
            </a:extLst>
          </p:cNvPr>
          <p:cNvSpPr/>
          <p:nvPr/>
        </p:nvSpPr>
        <p:spPr>
          <a:xfrm>
            <a:off x="-572044" y="6103393"/>
            <a:ext cx="3348978" cy="528786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0FA4CC-471F-1446-F930-966FB617E34E}"/>
              </a:ext>
            </a:extLst>
          </p:cNvPr>
          <p:cNvSpPr/>
          <p:nvPr/>
        </p:nvSpPr>
        <p:spPr>
          <a:xfrm>
            <a:off x="10195022" y="157460"/>
            <a:ext cx="3348978" cy="528786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FC1E44-02C9-3E6D-F7E3-5BF5DAFA5E9C}"/>
              </a:ext>
            </a:extLst>
          </p:cNvPr>
          <p:cNvSpPr/>
          <p:nvPr/>
        </p:nvSpPr>
        <p:spPr>
          <a:xfrm>
            <a:off x="11524156" y="844649"/>
            <a:ext cx="3348978" cy="528786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0873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67E4-2835-C986-4491-DFE1CA52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AFD349A3-D655-5684-60BB-6A65150F0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5273040"/>
            <a:ext cx="1584960" cy="1584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980855-25A2-B3B5-7ECC-A59470889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 Validation in Laravel</a:t>
            </a:r>
            <a:endParaRPr lang="en-TW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60DFC-9B40-A1C8-5897-D93DE3E0B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394" y="1690688"/>
            <a:ext cx="1020140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Validation ensures that user inputs meet certain rules before being processed.</a:t>
            </a:r>
          </a:p>
          <a:p>
            <a:r>
              <a:rPr lang="en-US" dirty="0"/>
              <a:t>Validation is usually handled in the controller.</a:t>
            </a:r>
          </a:p>
          <a:p>
            <a:r>
              <a:rPr lang="en-US" b="1" dirty="0"/>
              <a:t>Basic Validation Example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public function store(Request $request) {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$request-&gt;validate([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    'name' =&gt; 'required|min:3',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    'email' =&gt; '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required|email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',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    'password' =&gt; 'required|min:6'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]);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return "Form Submitted Successfully";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076050-A1AE-33F6-06B3-C5D0C08D4AF0}"/>
              </a:ext>
            </a:extLst>
          </p:cNvPr>
          <p:cNvSpPr/>
          <p:nvPr/>
        </p:nvSpPr>
        <p:spPr>
          <a:xfrm rot="19900239">
            <a:off x="11003836" y="279155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F23E90-A71E-8E02-9CB6-266A7C1A5C7C}"/>
              </a:ext>
            </a:extLst>
          </p:cNvPr>
          <p:cNvSpPr/>
          <p:nvPr/>
        </p:nvSpPr>
        <p:spPr>
          <a:xfrm rot="19900239">
            <a:off x="11003836" y="754842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9594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6327-27EA-F368-18B2-7D934EB6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ABD12F61-3714-2482-528D-43765CF61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5273040"/>
            <a:ext cx="1584960" cy="1584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EE97F9-557E-833F-EB9B-C496C01F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Validation Rules</a:t>
            </a:r>
            <a:endParaRPr lang="en-TW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006114-5B69-CD1B-5662-BB3A62B3C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23194"/>
              </p:ext>
            </p:extLst>
          </p:nvPr>
        </p:nvGraphicFramePr>
        <p:xfrm>
          <a:off x="2367417" y="1923003"/>
          <a:ext cx="6413328" cy="3868412"/>
        </p:xfrm>
        <a:graphic>
          <a:graphicData uri="http://schemas.openxmlformats.org/drawingml/2006/table">
            <a:tbl>
              <a:tblPr/>
              <a:tblGrid>
                <a:gridCol w="3206664">
                  <a:extLst>
                    <a:ext uri="{9D8B030D-6E8A-4147-A177-3AD203B41FA5}">
                      <a16:colId xmlns:a16="http://schemas.microsoft.com/office/drawing/2014/main" val="373467025"/>
                    </a:ext>
                  </a:extLst>
                </a:gridCol>
                <a:gridCol w="3206664">
                  <a:extLst>
                    <a:ext uri="{9D8B030D-6E8A-4147-A177-3AD203B41FA5}">
                      <a16:colId xmlns:a16="http://schemas.microsoft.com/office/drawing/2014/main" val="1930595927"/>
                    </a:ext>
                  </a:extLst>
                </a:gridCol>
              </a:tblGrid>
              <a:tr h="501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Rule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Meaning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906197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required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Field must not be empty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363779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email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Must be valid email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46831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min:6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Minimum 6 characters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177630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max:255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Maximum length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70300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Must be a number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74015"/>
                  </a:ext>
                </a:extLst>
              </a:tr>
              <a:tr h="85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unique:users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Must be unique in users table</a:t>
                      </a:r>
                    </a:p>
                  </a:txBody>
                  <a:tcPr marL="88707" marR="88707" marT="44353" marB="443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238187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F2B9AE-F889-7F48-3ADE-BDC74DDDFE4F}"/>
              </a:ext>
            </a:extLst>
          </p:cNvPr>
          <p:cNvSpPr/>
          <p:nvPr/>
        </p:nvSpPr>
        <p:spPr>
          <a:xfrm rot="19900239">
            <a:off x="11003836" y="279155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701372-A7DE-6E4E-D673-4944D113F2CC}"/>
              </a:ext>
            </a:extLst>
          </p:cNvPr>
          <p:cNvSpPr/>
          <p:nvPr/>
        </p:nvSpPr>
        <p:spPr>
          <a:xfrm rot="19900239">
            <a:off x="11003836" y="754842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6822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15CF-540E-5B5C-AFC7-6AF508BB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5488D587-1252-8AAE-74CE-95C6560A3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5273040"/>
            <a:ext cx="1584960" cy="1584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04FF2C-2F23-4C26-8F78-71851410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Displaying Validation Errors in Blade</a:t>
            </a:r>
            <a:endParaRPr lang="en-TW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70E19-3FF4-0DAD-AE4E-FC4279D57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394" y="1690688"/>
            <a:ext cx="10201405" cy="4351338"/>
          </a:xfrm>
        </p:spPr>
        <p:txBody>
          <a:bodyPr>
            <a:normAutofit/>
          </a:bodyPr>
          <a:lstStyle/>
          <a:p>
            <a:pPr indent="342900" algn="just"/>
            <a:r>
              <a:rPr lang="en-US" dirty="0"/>
              <a:t>When validation fails, Laravel automatically redirects back with error messages.</a:t>
            </a:r>
          </a:p>
          <a:p>
            <a:r>
              <a:rPr lang="en-US" b="1" dirty="0"/>
              <a:t>Display All Errors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@if($errors-&gt;any())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&lt;ul&gt;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    @foreach($errors-&gt;all() as $error)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        &lt;li&gt;{{ $error }}&lt;/li&gt;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    @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endforeach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&lt;/ul&gt;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@endif</a:t>
            </a:r>
          </a:p>
          <a:p>
            <a:pPr indent="342900" algn="just"/>
            <a:endParaRPr lang="en-PH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94DB26-900A-BD1D-2D88-1248D623B8BC}"/>
              </a:ext>
            </a:extLst>
          </p:cNvPr>
          <p:cNvSpPr/>
          <p:nvPr/>
        </p:nvSpPr>
        <p:spPr>
          <a:xfrm rot="19900239">
            <a:off x="11003836" y="279155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E7A06A-557C-87D0-4945-94782A783AD3}"/>
              </a:ext>
            </a:extLst>
          </p:cNvPr>
          <p:cNvSpPr/>
          <p:nvPr/>
        </p:nvSpPr>
        <p:spPr>
          <a:xfrm rot="19900239">
            <a:off x="11003836" y="754842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1660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BB6CF-DC4D-9080-2DCB-DD8F14E2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8E9F5A76-AACD-C137-1CC3-C014A29F1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5273040"/>
            <a:ext cx="1584960" cy="1584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4D47F5-04AB-77A8-4293-B1AB3832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Displaying Validation Errors in Blade</a:t>
            </a:r>
            <a:endParaRPr lang="en-TW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0F707-21C1-70D0-5681-F1709172A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394" y="1690688"/>
            <a:ext cx="10201405" cy="4351338"/>
          </a:xfrm>
        </p:spPr>
        <p:txBody>
          <a:bodyPr>
            <a:normAutofit/>
          </a:bodyPr>
          <a:lstStyle/>
          <a:p>
            <a:r>
              <a:rPr lang="en-US" b="1" dirty="0"/>
              <a:t>Display Error for Specific Field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@error('name')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   &lt;p style="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color:red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;"&gt;{{ $message }}&lt;/p&gt;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@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enderror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indent="342900" algn="just"/>
            <a:endParaRPr lang="en-PH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10F8D7-870F-02AA-2A6C-C8EDD93C085B}"/>
              </a:ext>
            </a:extLst>
          </p:cNvPr>
          <p:cNvSpPr/>
          <p:nvPr/>
        </p:nvSpPr>
        <p:spPr>
          <a:xfrm rot="19900239">
            <a:off x="11003836" y="279155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3DC959-EB2B-16DC-E56F-E7D7624E5180}"/>
              </a:ext>
            </a:extLst>
          </p:cNvPr>
          <p:cNvSpPr/>
          <p:nvPr/>
        </p:nvSpPr>
        <p:spPr>
          <a:xfrm rot="19900239">
            <a:off x="11003836" y="754842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3727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1655-9A24-9A54-183A-A3FC6B8EF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2CCFF0FB-6085-C0F8-153E-27D8BEBFE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5273040"/>
            <a:ext cx="1584960" cy="1584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D10805-A34B-7CC9-0362-21586FFE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Old Input Values (Sticky Forms)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D9AE-3F68-680A-B7DE-34342D95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394" y="1690688"/>
            <a:ext cx="10201405" cy="4351338"/>
          </a:xfrm>
        </p:spPr>
        <p:txBody>
          <a:bodyPr>
            <a:normAutofit/>
          </a:bodyPr>
          <a:lstStyle/>
          <a:p>
            <a:r>
              <a:rPr lang="en-US" dirty="0"/>
              <a:t>When validation fails, Laravel preserves old input data.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&lt;input type="text" name="name" value="{{ old('name') }}"&gt;</a:t>
            </a:r>
          </a:p>
          <a:p>
            <a:r>
              <a:rPr lang="en-US" dirty="0"/>
              <a:t>This improves user experience.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589745-264B-5A16-631E-0E6D5F89187E}"/>
              </a:ext>
            </a:extLst>
          </p:cNvPr>
          <p:cNvSpPr/>
          <p:nvPr/>
        </p:nvSpPr>
        <p:spPr>
          <a:xfrm rot="19900239">
            <a:off x="11003836" y="279155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53DCB57-5B3A-E9E5-3CD6-C7E5D3A692FD}"/>
              </a:ext>
            </a:extLst>
          </p:cNvPr>
          <p:cNvSpPr/>
          <p:nvPr/>
        </p:nvSpPr>
        <p:spPr>
          <a:xfrm rot="19900239">
            <a:off x="11003836" y="754842"/>
            <a:ext cx="1710678" cy="270107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57828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AC7A-C1B0-2B6F-FC56-738E5A9A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9813"/>
          </a:xfrm>
        </p:spPr>
        <p:txBody>
          <a:bodyPr/>
          <a:lstStyle/>
          <a:p>
            <a:r>
              <a:rPr lang="en-TW" dirty="0"/>
              <a:t>Manually Creating Validations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D3D93-68F8-C87B-00DB-E01203C7C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9413"/>
            <a:ext cx="10837332" cy="4651949"/>
          </a:xfrm>
        </p:spPr>
        <p:txBody>
          <a:bodyPr>
            <a:normAutofit fontScale="85000" lnSpcReduction="20000"/>
          </a:bodyPr>
          <a:lstStyle/>
          <a:p>
            <a:r>
              <a:rPr lang="en-TW" dirty="0"/>
              <a:t>In function store() of the controller replace the validate block…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$validator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26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Validator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2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make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$request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2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all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(),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studentid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"required|min:4|max:20|unique:students"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"required|min:5|max:20"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lastname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"required|min:5|max:20"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4000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$validator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2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fails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()){</a:t>
            </a:r>
            <a:endParaRPr lang="en-US" sz="2600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redirect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”student/create"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  <a:t>	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26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withErrors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$validator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)-&gt;</a:t>
            </a:r>
            <a:r>
              <a:rPr lang="en-US" sz="26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withInput</a:t>
            </a: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();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4000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TW" dirty="0"/>
              <a:t>Put on top: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use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Validator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TW" dirty="0"/>
              <a:t>Add the ff: on every input fields: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"{{old(‘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studentid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')}}"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06598-0A89-CAC1-D4F8-FDB0064E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419AE-98CA-FABA-6578-181FB9CB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2DA85-A678-9666-A8D5-F2A39C61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DFFC15E1-9C59-2948-1572-960D4AA80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1EA9E7-6EAE-2931-8973-B6904C32B04E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4FF454-D673-8266-A879-0DE49F7BEE36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2555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8C87-A193-ABA2-D954-7C5F4952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/>
          <a:lstStyle/>
          <a:p>
            <a:r>
              <a:rPr lang="en-TW" dirty="0"/>
              <a:t>HTTP Redirect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CA30C-0E6C-8452-69DE-4A67B8B9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0037"/>
            <a:ext cx="10676466" cy="4711326"/>
          </a:xfrm>
        </p:spPr>
        <p:txBody>
          <a:bodyPr/>
          <a:lstStyle/>
          <a:p>
            <a:r>
              <a:rPr lang="en-TW" dirty="0"/>
              <a:t>In the code:</a:t>
            </a:r>
          </a:p>
          <a:p>
            <a:r>
              <a:rPr lang="en-US" sz="18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redirect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"employees/create"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)-&gt;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withErrors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$validator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)-&gt;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withInput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();</a:t>
            </a:r>
            <a:endParaRPr lang="en-US" sz="18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TW" dirty="0"/>
              <a:t>We may use:</a:t>
            </a: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back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()-&gt;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withErrors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$validator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)-&gt;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withInput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();</a:t>
            </a:r>
            <a:endParaRPr lang="en-US" sz="2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back()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is a Laravel helper function that redirects the user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back to the previous page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It is useful after form submissions, errors, or actions that require users to return to where they came from.</a:t>
            </a:r>
          </a:p>
          <a:p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7BE22-4685-19BB-BE39-82FECD8D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92199-B89D-6D9A-5278-06121BF8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5E21A-4468-F210-006F-AAF9A4C2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AC8617E7-8B58-959B-9BD1-B25691995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79B72E-CB4D-D118-BFEE-3A33D69603D1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7C9D17-3671-5F62-77ED-1A5B63D924F9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52443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271F5-B218-030C-3711-8D544D1BD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51513"/>
            <a:ext cx="10986842" cy="5589849"/>
          </a:xfrm>
        </p:spPr>
        <p:txBody>
          <a:bodyPr>
            <a:normAutofit/>
          </a:bodyPr>
          <a:lstStyle/>
          <a:p>
            <a:r>
              <a:rPr lang="en-TW" sz="2000" b="1" dirty="0"/>
              <a:t>Redirect to Named Route</a:t>
            </a:r>
          </a:p>
          <a:p>
            <a:r>
              <a:rPr lang="en-US" sz="2000" dirty="0"/>
              <a:t>Create a controller “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2000" dirty="0">
                <a:solidFill>
                  <a:schemeClr val="tx1"/>
                </a:solidFill>
                <a:latin typeface="Menlo" panose="020B0609030804020204" pitchFamily="49" charset="0"/>
              </a:rPr>
              <a:t>”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/>
              <a:t>I</a:t>
            </a:r>
            <a:r>
              <a:rPr lang="en-TW" sz="2000" dirty="0"/>
              <a:t>n the web route write:</a:t>
            </a:r>
          </a:p>
          <a:p>
            <a:pPr marL="457200" lvl="1" indent="0">
              <a:buNone/>
            </a:pPr>
            <a:r>
              <a:rPr lang="en-US" sz="18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Route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‘/try'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[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'index’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 marL="457200" lvl="1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8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RedirectIndex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Route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redirectme</a:t>
            </a:r>
            <a:r>
              <a:rPr lang="en-US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2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(){</a:t>
            </a: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4000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C586C0"/>
                </a:solidFill>
                <a:latin typeface="Menlo" panose="020B0609030804020204" pitchFamily="49" charset="0"/>
              </a:rPr>
              <a:t>	</a:t>
            </a:r>
            <a:r>
              <a:rPr lang="en-US" sz="2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redirect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()-&gt;</a:t>
            </a:r>
            <a:r>
              <a:rPr lang="en-US" sz="2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route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RedirectIndex</a:t>
            </a:r>
            <a:r>
              <a:rPr lang="en-US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4000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});</a:t>
            </a: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/>
              <a:t>I</a:t>
            </a:r>
            <a:r>
              <a:rPr lang="en-TW" sz="2000" dirty="0"/>
              <a:t>n the </a:t>
            </a:r>
            <a:r>
              <a:rPr lang="en-US" sz="2000" dirty="0"/>
              <a:t>“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2000" dirty="0">
                <a:solidFill>
                  <a:schemeClr val="tx1"/>
                </a:solidFill>
                <a:latin typeface="Menlo" panose="020B0609030804020204" pitchFamily="49" charset="0"/>
              </a:rPr>
              <a:t>” write inside the class</a:t>
            </a:r>
          </a:p>
          <a:p>
            <a:pPr lvl="1">
              <a:lnSpc>
                <a:spcPts val="1350"/>
              </a:lnSpc>
              <a:buNone/>
            </a:pPr>
            <a:endParaRPr lang="en-US" sz="2000" b="0" dirty="0">
              <a:solidFill>
                <a:srgbClr val="569CD6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(){</a:t>
            </a: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"This is an index function of 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4000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Try to browse the URI: </a:t>
            </a:r>
            <a:r>
              <a:rPr lang="en-US" sz="20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redirectme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TW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ADC97-A0DC-11A0-949B-CC07A149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A4F51-C9DE-D113-251F-694C76A9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73A1D-0C80-86C3-DCE8-4F50AA5D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54A61CF8-320D-F5EF-E8B5-15AA7F86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D41BC7-0056-52C6-9841-70915E45951A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2856AFB-088E-23F4-B6DD-AF685AC9AF02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0750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3CE3-9E0C-87FC-AAA5-A2ED9200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4810"/>
          </a:xfrm>
        </p:spPr>
        <p:txBody>
          <a:bodyPr>
            <a:normAutofit fontScale="90000"/>
          </a:bodyPr>
          <a:lstStyle/>
          <a:p>
            <a:r>
              <a:rPr lang="en-TW" dirty="0"/>
              <a:t>If with message: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DAAB-FA58-3103-66C1-E6C641DDC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94411"/>
            <a:ext cx="10942237" cy="4746952"/>
          </a:xfrm>
        </p:spPr>
        <p:txBody>
          <a:bodyPr>
            <a:normAutofit fontScale="92500" lnSpcReduction="10000"/>
          </a:bodyPr>
          <a:lstStyle/>
          <a:p>
            <a:r>
              <a:rPr lang="en-TW" sz="2200" dirty="0"/>
              <a:t>Change the URI </a:t>
            </a:r>
            <a:r>
              <a:rPr lang="en-US" sz="2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'/try’</a:t>
            </a:r>
            <a:r>
              <a:rPr lang="en-US" sz="2200" dirty="0">
                <a:solidFill>
                  <a:srgbClr val="CCCCCC"/>
                </a:solidFill>
                <a:latin typeface="Menlo" panose="020B0609030804020204" pitchFamily="49" charset="0"/>
              </a:rPr>
              <a:t> </a:t>
            </a:r>
            <a:r>
              <a:rPr lang="en-TW" sz="2200" dirty="0"/>
              <a:t>to </a:t>
            </a:r>
            <a:r>
              <a:rPr lang="en-US" sz="2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'/try/{message}’ </a:t>
            </a:r>
            <a:r>
              <a:rPr lang="en-US" sz="22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and add:</a:t>
            </a:r>
          </a:p>
          <a:p>
            <a:pPr marL="0" indent="0">
              <a:buNone/>
            </a:pP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2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"message"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2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"This is my message"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US" sz="22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in the </a:t>
            </a:r>
            <a:r>
              <a:rPr lang="en-US" sz="22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redirectme</a:t>
            </a:r>
            <a:r>
              <a:rPr lang="en-US" sz="22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 URI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redirect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()-&gt;</a:t>
            </a:r>
            <a:r>
              <a:rPr lang="en-US" sz="24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route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RedirectIndex</a:t>
            </a:r>
            <a:r>
              <a:rPr lang="en-US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[</a:t>
            </a:r>
            <a:r>
              <a:rPr lang="en-US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"message"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2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"This is my message"</a:t>
            </a:r>
            <a:r>
              <a:rPr lang="en-US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pPr marL="0" indent="0">
              <a:buNone/>
            </a:pPr>
            <a:endParaRPr lang="en-US" sz="2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600" dirty="0"/>
              <a:t>C</a:t>
            </a:r>
            <a:r>
              <a:rPr lang="en-TW" sz="2600" dirty="0"/>
              <a:t>reate a function in the RedirectController: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		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en-US" sz="2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2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showMessage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$message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){</a:t>
            </a:r>
            <a:endParaRPr lang="en-US" sz="2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	return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$message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2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22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TW" sz="2600" dirty="0"/>
              <a:t>Change 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‘index’ </a:t>
            </a:r>
            <a:r>
              <a:rPr lang="en-US" sz="26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in the route to 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2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showMessage</a:t>
            </a:r>
            <a:r>
              <a:rPr lang="en-US" sz="2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endParaRPr lang="en-US" sz="2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DAE01-A70D-BCAC-7724-858F1F8C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72FA9-940E-8D51-DA11-94060D0FF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7CD24-4228-46EE-59AC-AB3A83EC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E6911940-37A4-EB38-B565-9E47F218C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FB2A0A-8DC8-32D2-7B66-6742CB1FEE3C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A19B85-A61A-507B-3369-65D72D47F823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72265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799F-CDB7-396F-58AD-91895EB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5434"/>
          </a:xfrm>
        </p:spPr>
        <p:txBody>
          <a:bodyPr>
            <a:normAutofit fontScale="90000"/>
          </a:bodyPr>
          <a:lstStyle/>
          <a:p>
            <a:r>
              <a:rPr lang="en-US" dirty="0"/>
              <a:t>I</a:t>
            </a:r>
            <a:r>
              <a:rPr lang="en-TW" dirty="0"/>
              <a:t>f redirect to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9F02-729A-60AE-922B-17E9866FB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41913"/>
            <a:ext cx="10908783" cy="4699450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TW" dirty="0"/>
              <a:t>omment the return redirect….</a:t>
            </a:r>
          </a:p>
          <a:p>
            <a:r>
              <a:rPr lang="en-US" dirty="0"/>
              <a:t>Write: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Menlo" panose="020B0609030804020204" pitchFamily="49" charset="0"/>
              </a:rPr>
              <a:t>	</a:t>
            </a:r>
            <a:r>
              <a:rPr lang="en-US" sz="18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redirect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()-&gt;</a:t>
            </a:r>
            <a:r>
              <a:rPr lang="en-US" sz="18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action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]);</a:t>
            </a:r>
            <a:endParaRPr lang="en-US" sz="20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/>
              <a:t>G</a:t>
            </a:r>
            <a:r>
              <a:rPr lang="en-TW" dirty="0"/>
              <a:t>o to 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8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create a function 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endParaRPr lang="en-US" sz="1800" b="0" dirty="0">
              <a:solidFill>
                <a:srgbClr val="CE9178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$message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){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"something"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400050" lvl="1" indent="0"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TW" dirty="0"/>
              <a:t>In web route, write:</a:t>
            </a:r>
          </a:p>
          <a:p>
            <a:pPr>
              <a:lnSpc>
                <a:spcPts val="1350"/>
              </a:lnSpc>
              <a:buNone/>
            </a:pPr>
            <a:r>
              <a:rPr lang="en-US" sz="20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8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 Route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'/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[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sz="18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8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]);</a:t>
            </a:r>
            <a:br>
              <a:rPr lang="en-US" sz="2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sz="2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chemeClr val="tx1"/>
                </a:solidFill>
              </a:rPr>
              <a:t>Try to browse the URI: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redirectme</a:t>
            </a:r>
            <a:endParaRPr lang="en-US" dirty="0">
              <a:solidFill>
                <a:schemeClr val="tx1"/>
              </a:solidFill>
            </a:endParaRPr>
          </a:p>
          <a:p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7D94-9CE1-8531-866D-2987D7A84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DC7FE-2A0E-72F2-41E3-116E5111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0E07-14C6-22BC-814E-DACFD247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63ED3874-9215-DFA6-12B9-37E8714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2F89C6-79B2-288C-8EBC-FFA1B1FAEA4D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065CE1-B85E-021A-36C4-B70E345C636F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8116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4997-2F85-AD83-B6C5-90867C52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9184"/>
          </a:xfrm>
        </p:spPr>
        <p:txBody>
          <a:bodyPr>
            <a:normAutofit fontScale="90000"/>
          </a:bodyPr>
          <a:lstStyle/>
          <a:p>
            <a:r>
              <a:rPr lang="en-TW" dirty="0"/>
              <a:t>If with Data: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79E1D-E25A-DBC4-59D7-541E4289F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41913"/>
            <a:ext cx="11087203" cy="46994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600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Route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'/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/{message}'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[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]);</a:t>
            </a:r>
            <a:endParaRPr lang="en-US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chemeClr val="tx1"/>
                </a:solidFill>
                <a:latin typeface="Menlo" panose="020B0609030804020204" pitchFamily="49" charset="0"/>
              </a:rPr>
              <a:t>Add this code: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redirect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sz="1600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RedirectController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showSomething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],[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"message"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"This is my message"</a:t>
            </a:r>
            <a:r>
              <a:rPr lang="en-US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]);</a:t>
            </a:r>
            <a:endParaRPr lang="en-US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D37A7-3421-6CB0-E99D-4477BCDF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BE39F-F60C-5F29-4945-0F7538CC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B35CD-8EB3-DF15-4846-32ADDBA9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CB04A8E9-2E3E-F868-B829-5ED4F4BC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592820-313D-2C14-ACE2-DE3705C9E127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D1A1D7-3B86-6445-E5C0-058DB3A5D131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1358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A9DF-9F6E-C88E-DAB6-E0EE287B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9813"/>
          </a:xfrm>
        </p:spPr>
        <p:txBody>
          <a:bodyPr>
            <a:normAutofit fontScale="90000"/>
          </a:bodyPr>
          <a:lstStyle/>
          <a:p>
            <a:r>
              <a:rPr lang="en-TW" dirty="0"/>
              <a:t>HTTP Redirect with Flash Session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AC4D-4F8C-3E4C-6F64-74EE3BBDC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9413"/>
            <a:ext cx="11514666" cy="4651949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TW" dirty="0"/>
              <a:t>n the </a:t>
            </a:r>
            <a:r>
              <a:rPr lang="en-US" dirty="0"/>
              <a:t>Controller,</a:t>
            </a:r>
            <a:r>
              <a:rPr lang="en-TW" dirty="0"/>
              <a:t> in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echo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"Successfully Added"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change it to: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redirect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"/student"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Menlo" panose="020B0609030804020204" pitchFamily="49" charset="0"/>
              </a:rPr>
              <a:t>	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message"</a:t>
            </a:r>
            <a:r>
              <a:rPr lang="en-US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”Student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Successfully Saved!"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TW" dirty="0"/>
              <a:t>In the student.blade.php anywhere from the top write:</a:t>
            </a:r>
          </a:p>
          <a:p>
            <a:pPr lvl="1">
              <a:lnSpc>
                <a:spcPts val="135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@if(session("message"))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	&lt;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{{session("message")}}</a:t>
            </a:r>
            <a:r>
              <a:rPr lang="en-US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strong</a:t>
            </a:r>
            <a:r>
              <a:rPr lang="en-US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4000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@endif</a:t>
            </a:r>
          </a:p>
          <a:p>
            <a:endParaRPr lang="en-TW" dirty="0"/>
          </a:p>
          <a:p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96789-F89D-608F-C311-16BA9A4A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4E29D-0350-F900-0E75-C7275BD6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21012-6901-0F69-7AF3-F6F143D0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744C3D71-25A6-E4D6-D9A3-E19C4CAA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2A63B4-B83E-EAC7-94E5-E985759B4F4F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3B9F28-28FA-C314-1581-E9BFC80AB773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30036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D2A6-7C29-DA59-2BFF-AB13BD296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48342"/>
            <a:ext cx="8596668" cy="708561"/>
          </a:xfrm>
        </p:spPr>
        <p:txBody>
          <a:bodyPr/>
          <a:lstStyle/>
          <a:p>
            <a:r>
              <a:rPr lang="en-TW" dirty="0"/>
              <a:t>Logging in 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2B16-2B0A-602E-2A8D-7C25FE36A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56903"/>
            <a:ext cx="8596668" cy="4984460"/>
          </a:xfrm>
        </p:spPr>
        <p:txBody>
          <a:bodyPr>
            <a:normAutofit fontScale="92500" lnSpcReduction="20000"/>
          </a:bodyPr>
          <a:lstStyle/>
          <a:p>
            <a:r>
              <a:rPr lang="en-TW" dirty="0"/>
              <a:t>To see the Logs, go to storage&gt;logs&gt;laravel.log</a:t>
            </a:r>
          </a:p>
          <a:p>
            <a:r>
              <a:rPr lang="en-US" dirty="0"/>
              <a:t>O</a:t>
            </a:r>
            <a:r>
              <a:rPr lang="en-TW" dirty="0"/>
              <a:t>ther facades or functions</a:t>
            </a:r>
          </a:p>
          <a:p>
            <a:r>
              <a:rPr lang="en-TW" dirty="0"/>
              <a:t>On the top of a controller, write:</a:t>
            </a: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	use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TW" dirty="0"/>
              <a:t>On a function before a redirect function, write:</a:t>
            </a: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”Student is Added!"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info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notice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alert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emergency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alert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critical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error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warning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US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alert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$msg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  <a:endParaRPr lang="en-TW" dirty="0"/>
          </a:p>
          <a:p>
            <a:r>
              <a:rPr lang="en-TW" dirty="0"/>
              <a:t>Note: change .env local to production and serve it again</a:t>
            </a:r>
          </a:p>
          <a:p>
            <a:pPr lvl="1"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368B2-EB63-6E4A-26C2-81AFF7C13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539A-EA75-03F7-83E7-34BA0237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E16E3-AE99-90C6-D1A1-A61DB39F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06D47B62-42B7-2297-50E0-D1E28EC12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C06D36-20F1-0B32-EF5B-57022415D0C8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3D5991-23B7-5F85-2BB3-1026B37CEF28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5539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27E2-C6B1-33FA-7310-8EA0052DB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Eloquent Relationships in Laravel</a:t>
            </a:r>
            <a:endParaRPr lang="en-TW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7C1CA-1EDC-0B29-96C8-916CEDEA8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 is Eloquent ORM?</a:t>
            </a:r>
          </a:p>
          <a:p>
            <a:r>
              <a:rPr lang="en-US" dirty="0"/>
              <a:t>Laravel uses </a:t>
            </a:r>
            <a:r>
              <a:rPr lang="en-US" b="1" dirty="0"/>
              <a:t>Eloquent ORM (Object-Relational Mapping)</a:t>
            </a:r>
            <a:r>
              <a:rPr lang="en-US" dirty="0"/>
              <a:t> to interact with databases using PHP objects instead of raw SQL.</a:t>
            </a:r>
          </a:p>
          <a:p>
            <a:r>
              <a:rPr lang="en-US" dirty="0"/>
              <a:t>Eloquent relationships allow you to define how different database tables are connected and interact with each other in an intuitive, object-oriented way.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Why Use Eloquent Relationships?</a:t>
            </a:r>
          </a:p>
          <a:p>
            <a:r>
              <a:rPr lang="en-US" dirty="0"/>
              <a:t>Eliminates complex SQL joins </a:t>
            </a:r>
          </a:p>
          <a:p>
            <a:r>
              <a:rPr lang="en-US" dirty="0"/>
              <a:t>Improves code readability </a:t>
            </a:r>
          </a:p>
          <a:p>
            <a:r>
              <a:rPr lang="en-US" dirty="0"/>
              <a:t>Makes database queries reusable </a:t>
            </a:r>
          </a:p>
          <a:p>
            <a:r>
              <a:rPr lang="en-US" dirty="0"/>
              <a:t>Supports powerful features like eager loading and constraints </a:t>
            </a:r>
          </a:p>
          <a:p>
            <a:endParaRPr lang="en-TW" dirty="0"/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9FAF3BA2-974D-3CD9-48BC-5F99D3AA9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B1F7AD-7AA5-E001-2E2E-238DA62731AD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2C6DB9-B1B9-F5FC-9263-19D91BFD6CE6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43310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77DE-B38E-F5C7-1C45-59AF9B6D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Types of Eloquent Relationships</a:t>
            </a:r>
            <a:endParaRPr lang="en-TW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F301E-B24C-0C82-542A-335A6AA3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7" y="1544506"/>
            <a:ext cx="11866323" cy="5122257"/>
          </a:xfrm>
        </p:spPr>
        <p:txBody>
          <a:bodyPr numCol="2">
            <a:normAutofit fontScale="85000" lnSpcReduction="20000"/>
          </a:bodyPr>
          <a:lstStyle/>
          <a:p>
            <a:r>
              <a:rPr lang="en-US" b="1" dirty="0"/>
              <a:t>1. One-to-One Relationship</a:t>
            </a:r>
          </a:p>
          <a:p>
            <a:pPr lvl="1"/>
            <a:r>
              <a:rPr lang="en-US" sz="2600" dirty="0"/>
              <a:t>One record in a table is related to one record in another table.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sz="2600" dirty="0"/>
              <a:t>A </a:t>
            </a:r>
            <a:r>
              <a:rPr lang="en-US" sz="2600" b="1" dirty="0"/>
              <a:t>User</a:t>
            </a:r>
            <a:r>
              <a:rPr lang="en-US" sz="2600" dirty="0"/>
              <a:t> has one </a:t>
            </a:r>
            <a:r>
              <a:rPr lang="en-US" sz="2600" b="1" dirty="0"/>
              <a:t>Profile</a:t>
            </a:r>
            <a:endParaRPr lang="en-US" sz="2600" dirty="0"/>
          </a:p>
          <a:p>
            <a:r>
              <a:rPr lang="en-US" b="1" dirty="0"/>
              <a:t>Tables:</a:t>
            </a:r>
          </a:p>
          <a:p>
            <a:pPr lvl="1"/>
            <a:r>
              <a:rPr lang="en-US" sz="2600" dirty="0"/>
              <a:t>users table (id, name, email)</a:t>
            </a:r>
          </a:p>
          <a:p>
            <a:pPr lvl="1"/>
            <a:r>
              <a:rPr lang="en-US" sz="2600" dirty="0"/>
              <a:t>profiles table (id, </a:t>
            </a:r>
            <a:r>
              <a:rPr lang="en-US" sz="2600" dirty="0" err="1"/>
              <a:t>user_id</a:t>
            </a:r>
            <a:r>
              <a:rPr lang="en-US" sz="2600" dirty="0"/>
              <a:t>, bio, avatar)</a:t>
            </a:r>
          </a:p>
          <a:p>
            <a:pPr marL="457200" lvl="1" indent="0">
              <a:buNone/>
            </a:pPr>
            <a:r>
              <a:rPr lang="en-US" sz="2600" dirty="0"/>
              <a:t>	(with </a:t>
            </a:r>
            <a:r>
              <a:rPr lang="en-US" sz="2600" dirty="0" err="1"/>
              <a:t>user_id</a:t>
            </a:r>
            <a:r>
              <a:rPr lang="en-US" sz="2600" dirty="0"/>
              <a:t> as foreign key) </a:t>
            </a:r>
          </a:p>
          <a:p>
            <a:pPr lvl="1"/>
            <a:r>
              <a:rPr lang="en-US" dirty="0" err="1"/>
              <a:t>user_id</a:t>
            </a:r>
            <a:r>
              <a:rPr lang="en-US" sz="2800" dirty="0"/>
              <a:t> references </a:t>
            </a:r>
            <a:r>
              <a:rPr lang="en-US" dirty="0" err="1"/>
              <a:t>users.id</a:t>
            </a:r>
            <a:endParaRPr lang="en-US" sz="2600" dirty="0"/>
          </a:p>
          <a:p>
            <a:r>
              <a:rPr lang="en-US" b="1" dirty="0"/>
              <a:t>Migration:</a:t>
            </a:r>
          </a:p>
          <a:p>
            <a:pPr lvl="1"/>
            <a:r>
              <a:rPr lang="en-US" dirty="0"/>
              <a:t>$table-&gt;</a:t>
            </a:r>
            <a:r>
              <a:rPr lang="en-US" dirty="0" err="1"/>
              <a:t>foreignId</a:t>
            </a:r>
            <a:r>
              <a:rPr lang="en-US" dirty="0"/>
              <a:t>('</a:t>
            </a:r>
            <a:r>
              <a:rPr lang="en-US" dirty="0" err="1"/>
              <a:t>user_id</a:t>
            </a:r>
            <a:r>
              <a:rPr lang="en-US" dirty="0"/>
              <a:t>’)</a:t>
            </a:r>
          </a:p>
          <a:p>
            <a:pPr marL="457200" lvl="1" indent="0">
              <a:buNone/>
            </a:pPr>
            <a:r>
              <a:rPr lang="en-US" dirty="0"/>
              <a:t>	-&gt;constrained();</a:t>
            </a:r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lvl="1"/>
            <a:r>
              <a:rPr lang="en-US" dirty="0"/>
              <a:t>$table-&gt;</a:t>
            </a:r>
            <a:r>
              <a:rPr lang="en-US" dirty="0" err="1"/>
              <a:t>foreignId</a:t>
            </a:r>
            <a:r>
              <a:rPr lang="en-US" dirty="0"/>
              <a:t>('</a:t>
            </a:r>
            <a:r>
              <a:rPr lang="en-US" dirty="0" err="1"/>
              <a:t>user_id</a:t>
            </a:r>
            <a:r>
              <a:rPr lang="en-US" dirty="0"/>
              <a:t>’)</a:t>
            </a:r>
          </a:p>
          <a:p>
            <a:pPr marL="457200" lvl="1" indent="0">
              <a:buNone/>
            </a:pPr>
            <a:r>
              <a:rPr lang="en-US" dirty="0"/>
              <a:t>	-&gt;constrained(”users");</a:t>
            </a:r>
            <a:endParaRPr lang="en-US" b="1" dirty="0"/>
          </a:p>
          <a:p>
            <a:r>
              <a:rPr lang="en-US" b="1" dirty="0"/>
              <a:t>Model Code:</a:t>
            </a:r>
          </a:p>
          <a:p>
            <a:r>
              <a:rPr lang="en-US" b="1" dirty="0" err="1"/>
              <a:t>User.php</a:t>
            </a:r>
            <a:br>
              <a:rPr lang="en-US" dirty="0"/>
            </a:br>
            <a:r>
              <a:rPr lang="en-US" dirty="0"/>
              <a:t>public function profile()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$this-&gt;</a:t>
            </a:r>
            <a:r>
              <a:rPr lang="en-US" dirty="0" err="1"/>
              <a:t>hasOne</a:t>
            </a:r>
            <a:r>
              <a:rPr lang="en-US" dirty="0"/>
              <a:t>(Profile::class);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 err="1"/>
              <a:t>Profile.php</a:t>
            </a:r>
            <a:br>
              <a:rPr lang="en-US" dirty="0"/>
            </a:br>
            <a:r>
              <a:rPr lang="en-US" dirty="0"/>
              <a:t>public function user()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$this-&gt;</a:t>
            </a:r>
            <a:r>
              <a:rPr lang="en-US" dirty="0" err="1"/>
              <a:t>belongsTo</a:t>
            </a:r>
            <a:r>
              <a:rPr lang="en-US" dirty="0"/>
              <a:t>(User::class);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Usage:</a:t>
            </a:r>
          </a:p>
          <a:p>
            <a:r>
              <a:rPr lang="en-US" dirty="0"/>
              <a:t>$user = User::find(1);</a:t>
            </a:r>
            <a:br>
              <a:rPr lang="en-US" dirty="0"/>
            </a:br>
            <a:r>
              <a:rPr lang="en-US" dirty="0"/>
              <a:t>echo $user-&gt;profile-&gt;bio;</a:t>
            </a:r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E84A03D3-8DA8-6EA5-C760-C35BBAFCA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6150279"/>
            <a:ext cx="712697" cy="712697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CAA496-1D55-DC23-B5E6-DB7BEC3799C2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1CDF87-D7DB-941C-2373-845B06AD5535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3206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2D19-134B-AA67-7647-90642296E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Types of Eloquent Relationships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09FB2-B927-AC55-1199-B6D15081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671" y="1544507"/>
            <a:ext cx="11273425" cy="4948368"/>
          </a:xfrm>
        </p:spPr>
        <p:txBody>
          <a:bodyPr numCol="2">
            <a:normAutofit fontScale="85000" lnSpcReduction="20000"/>
          </a:bodyPr>
          <a:lstStyle/>
          <a:p>
            <a:r>
              <a:rPr lang="en-US" b="1" dirty="0"/>
              <a:t>2. One-to-Many Relationship</a:t>
            </a:r>
          </a:p>
          <a:p>
            <a:pPr lvl="1"/>
            <a:r>
              <a:rPr lang="en-US" sz="2800" dirty="0"/>
              <a:t>One record can have many related records.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sz="2800" dirty="0"/>
              <a:t>A </a:t>
            </a:r>
            <a:r>
              <a:rPr lang="en-US" sz="2800" b="1" dirty="0"/>
              <a:t>Post</a:t>
            </a:r>
            <a:r>
              <a:rPr lang="en-US" sz="2800" dirty="0"/>
              <a:t> belongs to a </a:t>
            </a:r>
            <a:r>
              <a:rPr lang="en-US" sz="2800" b="1" dirty="0"/>
              <a:t>User</a:t>
            </a:r>
            <a:r>
              <a:rPr lang="en-US" sz="2800" dirty="0"/>
              <a:t>, and a </a:t>
            </a:r>
            <a:r>
              <a:rPr lang="en-US" sz="2800" b="1" dirty="0"/>
              <a:t>User</a:t>
            </a:r>
            <a:r>
              <a:rPr lang="en-US" sz="2800" dirty="0"/>
              <a:t> has many posts.</a:t>
            </a:r>
          </a:p>
          <a:p>
            <a:r>
              <a:rPr lang="en-US" b="1" dirty="0"/>
              <a:t>Tables:</a:t>
            </a:r>
          </a:p>
          <a:p>
            <a:r>
              <a:rPr lang="en-US" dirty="0"/>
              <a:t>users table (id, name, email)</a:t>
            </a:r>
          </a:p>
          <a:p>
            <a:r>
              <a:rPr lang="en-US" dirty="0"/>
              <a:t>posts table (id, </a:t>
            </a:r>
            <a:r>
              <a:rPr lang="en-US" dirty="0" err="1"/>
              <a:t>user_id</a:t>
            </a:r>
            <a:r>
              <a:rPr lang="en-US" dirty="0"/>
              <a:t>, title, content)</a:t>
            </a:r>
          </a:p>
          <a:p>
            <a:pPr marL="0" indent="0">
              <a:buNone/>
            </a:pPr>
            <a:r>
              <a:rPr lang="en-US" dirty="0"/>
              <a:t>	(with </a:t>
            </a:r>
            <a:r>
              <a:rPr lang="en-US" dirty="0" err="1"/>
              <a:t>user_id</a:t>
            </a:r>
            <a:r>
              <a:rPr lang="en-US" dirty="0"/>
              <a:t> as foreign key)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Model Code:</a:t>
            </a:r>
          </a:p>
          <a:p>
            <a:r>
              <a:rPr lang="en-US" b="1" dirty="0" err="1"/>
              <a:t>User.php</a:t>
            </a:r>
            <a:br>
              <a:rPr lang="en-US" dirty="0"/>
            </a:br>
            <a:r>
              <a:rPr lang="en-US" dirty="0"/>
              <a:t>public function posts()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$this-&gt;</a:t>
            </a:r>
            <a:r>
              <a:rPr lang="en-US" dirty="0" err="1"/>
              <a:t>hasMany</a:t>
            </a:r>
            <a:r>
              <a:rPr lang="en-US" dirty="0"/>
              <a:t>(Post::class);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 err="1"/>
              <a:t>Post.php</a:t>
            </a:r>
            <a:br>
              <a:rPr lang="en-US" dirty="0"/>
            </a:br>
            <a:r>
              <a:rPr lang="en-US" dirty="0"/>
              <a:t>public function user()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$this-&gt;</a:t>
            </a:r>
            <a:r>
              <a:rPr lang="en-US" dirty="0" err="1"/>
              <a:t>belongsTo</a:t>
            </a:r>
            <a:r>
              <a:rPr lang="en-US" dirty="0"/>
              <a:t>(User::class);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Usage:</a:t>
            </a:r>
          </a:p>
          <a:p>
            <a:r>
              <a:rPr lang="en-US" dirty="0"/>
              <a:t>$user = User::find(1);</a:t>
            </a:r>
            <a:br>
              <a:rPr lang="en-US" dirty="0"/>
            </a:br>
            <a:r>
              <a:rPr lang="en-US" dirty="0"/>
              <a:t>foreach ($user-&gt;posts as $post) {</a:t>
            </a:r>
            <a:br>
              <a:rPr lang="en-US" dirty="0"/>
            </a:br>
            <a:r>
              <a:rPr lang="en-US" dirty="0"/>
              <a:t>    echo $post-&gt;title;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C49DADA1-46AA-6A5D-03BF-5EED37AF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FACB3D-B03F-D0D5-4090-5DDCE8996ECE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4F73B1-9993-EE19-46D6-70E02378A1A4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8100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6042-5D23-BC15-C4EF-5A2628B8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Types of Eloquent Relationships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7841C-9990-857B-6461-7B720FC1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74" y="1544507"/>
            <a:ext cx="11975926" cy="5122257"/>
          </a:xfrm>
        </p:spPr>
        <p:txBody>
          <a:bodyPr numCol="2">
            <a:normAutofit fontScale="85000" lnSpcReduction="20000"/>
          </a:bodyPr>
          <a:lstStyle/>
          <a:p>
            <a:r>
              <a:rPr lang="en-US" sz="2400" b="1" dirty="0"/>
              <a:t>3. Many-to-Many Relationship</a:t>
            </a:r>
          </a:p>
          <a:p>
            <a:pPr lvl="1"/>
            <a:r>
              <a:rPr lang="en-US" dirty="0"/>
              <a:t>Many records in one table relate to many records in another.</a:t>
            </a:r>
          </a:p>
          <a:p>
            <a:r>
              <a:rPr lang="en-US" sz="2400" b="1" dirty="0"/>
              <a:t>Example:</a:t>
            </a:r>
          </a:p>
          <a:p>
            <a:pPr lvl="1"/>
            <a:r>
              <a:rPr lang="en-US" dirty="0"/>
              <a:t>Students ↔ Courses</a:t>
            </a:r>
          </a:p>
          <a:p>
            <a:r>
              <a:rPr lang="en-US" sz="2400" b="1" dirty="0"/>
              <a:t>Tables:</a:t>
            </a:r>
          </a:p>
          <a:p>
            <a:pPr lvl="1"/>
            <a:r>
              <a:rPr lang="en-US" dirty="0"/>
              <a:t>students (id, name)</a:t>
            </a:r>
          </a:p>
          <a:p>
            <a:pPr lvl="1"/>
            <a:r>
              <a:rPr lang="en-US" dirty="0"/>
              <a:t>courses (id, title)</a:t>
            </a:r>
          </a:p>
          <a:p>
            <a:pPr lvl="1"/>
            <a:r>
              <a:rPr lang="en-US" dirty="0" err="1"/>
              <a:t>course_student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(id, 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)(pivot table)</a:t>
            </a:r>
          </a:p>
          <a:p>
            <a:pPr marL="457200" lvl="1" indent="0">
              <a:buNone/>
            </a:pPr>
            <a:r>
              <a:rPr lang="en-US" dirty="0"/>
              <a:t>$table-&gt;</a:t>
            </a:r>
            <a:r>
              <a:rPr lang="en-US" dirty="0" err="1"/>
              <a:t>unsignedBigInteger</a:t>
            </a:r>
            <a:r>
              <a:rPr lang="en-US" dirty="0"/>
              <a:t>('</a:t>
            </a:r>
            <a:r>
              <a:rPr lang="en-US" dirty="0" err="1"/>
              <a:t>course_id</a:t>
            </a:r>
            <a:r>
              <a:rPr lang="en-US" dirty="0"/>
              <a:t>');</a:t>
            </a:r>
          </a:p>
          <a:p>
            <a:pPr marL="457200" lvl="1" indent="0">
              <a:buNone/>
            </a:pPr>
            <a:r>
              <a:rPr lang="en-US" dirty="0"/>
              <a:t>$table-&gt;</a:t>
            </a:r>
            <a:r>
              <a:rPr lang="en-US" dirty="0" err="1"/>
              <a:t>unsignedBigInteger</a:t>
            </a:r>
            <a:r>
              <a:rPr lang="en-US" dirty="0"/>
              <a:t>('</a:t>
            </a:r>
            <a:r>
              <a:rPr lang="en-US" dirty="0" err="1"/>
              <a:t>student_id</a:t>
            </a:r>
            <a:r>
              <a:rPr lang="en-US" dirty="0"/>
              <a:t>');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endParaRPr lang="en-US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Model Code:</a:t>
            </a:r>
          </a:p>
          <a:p>
            <a:r>
              <a:rPr lang="en-US" sz="2400" b="1" dirty="0" err="1"/>
              <a:t>Student.php</a:t>
            </a:r>
            <a:br>
              <a:rPr lang="en-US" sz="2400" dirty="0"/>
            </a:br>
            <a:r>
              <a:rPr lang="en-US" sz="2400" dirty="0"/>
              <a:t>public function courses()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    return $this-&gt;</a:t>
            </a:r>
            <a:r>
              <a:rPr lang="en-US" sz="2400" dirty="0" err="1"/>
              <a:t>belongsToMany</a:t>
            </a:r>
            <a:r>
              <a:rPr lang="en-US" sz="2400" dirty="0"/>
              <a:t>(Course::class, '</a:t>
            </a:r>
            <a:r>
              <a:rPr lang="en-US" sz="2400" dirty="0" err="1"/>
              <a:t>course__students</a:t>
            </a:r>
            <a:r>
              <a:rPr lang="en-US" sz="2400" dirty="0"/>
              <a:t>', '</a:t>
            </a:r>
            <a:r>
              <a:rPr lang="en-US" sz="2400" dirty="0" err="1"/>
              <a:t>student_id</a:t>
            </a:r>
            <a:r>
              <a:rPr lang="en-US" sz="2400" dirty="0"/>
              <a:t>', '</a:t>
            </a:r>
            <a:r>
              <a:rPr lang="en-US" sz="2400" dirty="0" err="1"/>
              <a:t>course_id</a:t>
            </a:r>
            <a:r>
              <a:rPr lang="en-US" sz="2400" dirty="0"/>
              <a:t>');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r>
              <a:rPr lang="en-US" sz="2400" b="1" dirty="0" err="1"/>
              <a:t>Course.php</a:t>
            </a:r>
            <a:br>
              <a:rPr lang="en-US" sz="2400" dirty="0"/>
            </a:br>
            <a:r>
              <a:rPr lang="en-US" sz="2400" dirty="0"/>
              <a:t>public function students()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    return $this-&gt;</a:t>
            </a:r>
            <a:r>
              <a:rPr lang="en-US" sz="2400" dirty="0" err="1"/>
              <a:t>belongsToMany</a:t>
            </a:r>
            <a:r>
              <a:rPr lang="en-US" sz="2400" dirty="0"/>
              <a:t>(Student::class, '</a:t>
            </a:r>
            <a:r>
              <a:rPr lang="en-US" sz="2400" dirty="0" err="1"/>
              <a:t>course__students</a:t>
            </a:r>
            <a:r>
              <a:rPr lang="en-US" sz="2400" dirty="0"/>
              <a:t>', '</a:t>
            </a:r>
            <a:r>
              <a:rPr lang="en-US" sz="2400" dirty="0" err="1"/>
              <a:t>course_id</a:t>
            </a:r>
            <a:r>
              <a:rPr lang="en-US" sz="2400" dirty="0"/>
              <a:t>', '</a:t>
            </a:r>
            <a:r>
              <a:rPr lang="en-US" sz="2400" dirty="0" err="1"/>
              <a:t>student_id</a:t>
            </a:r>
            <a:r>
              <a:rPr lang="en-US" sz="2400" dirty="0"/>
              <a:t>');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r>
              <a:rPr lang="en-US" sz="2400" b="1" dirty="0"/>
              <a:t>Usage:</a:t>
            </a:r>
          </a:p>
          <a:p>
            <a:r>
              <a:rPr lang="en-US" sz="2400" dirty="0"/>
              <a:t>$student = Student::find(1);</a:t>
            </a:r>
            <a:br>
              <a:rPr lang="en-US" sz="2400" dirty="0"/>
            </a:br>
            <a:r>
              <a:rPr lang="en-US" sz="2400" dirty="0"/>
              <a:t>foreach ($student-&gt;courses as $course) {</a:t>
            </a:r>
            <a:br>
              <a:rPr lang="en-US" sz="2400" dirty="0"/>
            </a:br>
            <a:r>
              <a:rPr lang="en-US" sz="2400" dirty="0"/>
              <a:t>    echo $course-&gt;title;</a:t>
            </a:r>
            <a:br>
              <a:rPr lang="en-US" sz="2400" dirty="0"/>
            </a:br>
            <a:r>
              <a:rPr lang="en-US" sz="2400" dirty="0"/>
              <a:t>}</a:t>
            </a:r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F9FFC879-D55C-8294-6AF4-D653FDC9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74764C-BA9E-6B1E-E375-4644FD83EFAE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742F45-12B4-C28F-9E5E-D66197E76B00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75393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43ADB-582F-33CF-6D58-3742AE99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5327-DFD2-196B-0C72-4C95AB72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1F5-6634-AD19-DEB6-9AA8F83AC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60003E2C-EF65-52E3-C116-BE6252D09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E4400-572F-F6CD-5F73-E5814BD26AB8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0F926F-9F28-DA6D-E153-084183B2262A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00507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41EA-BB9B-FFE7-E633-E45D21E11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BD3A-8641-D54E-5599-3EE66172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015E5-DDBF-334F-B5DD-0F1C0A30E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B6D201DE-DC1D-1092-D3B7-EB46E0BF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5EEFEA-844A-7DF8-6927-E1404BE511A8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768257-F090-E373-5783-9C8279053C31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28960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BBD1-4C3C-890B-1D54-6BCC6FDD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D7E4-702D-077B-9D59-32E0EE0A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671E-B62C-BFD1-CF2B-59EA1C80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0CABFA7A-BEE6-A046-31C3-7E110EAC7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140ACB-BB53-3528-3C09-F8BD84474FD7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FE952F-6E6F-AB02-7EAA-DADEFFBF10A3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7135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C8352-5578-5A16-4F63-DD22B771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0A03-2A59-E93D-F6C8-73947D8E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1DE89-3C4B-281F-A264-A6F8B02D9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542814EB-9DC5-2F84-555C-AC5D2FEA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41EEA1-ED78-0EED-1813-D0983A30BF8D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271575-CA3C-512A-EFFA-D03D80E3DA19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66894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1CCB-04A2-EF46-39BB-97EB9567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5392-A1C5-B09C-346E-DFE50CFDE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F675-D48A-0045-DC2D-3E633F8BD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  <p:pic>
        <p:nvPicPr>
          <p:cNvPr id="4" name="Picture 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31593E46-C2AC-F2C4-E80C-40ED00FC5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0" y="5800295"/>
            <a:ext cx="1062681" cy="106268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4F38A8-6480-1E6E-2A33-42EE9A60F5CA}"/>
              </a:ext>
            </a:extLst>
          </p:cNvPr>
          <p:cNvSpPr/>
          <p:nvPr/>
        </p:nvSpPr>
        <p:spPr>
          <a:xfrm rot="19900239">
            <a:off x="11328086" y="-23154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A96CE5-E052-25C8-91AC-F47FFCF18B12}"/>
              </a:ext>
            </a:extLst>
          </p:cNvPr>
          <p:cNvSpPr/>
          <p:nvPr/>
        </p:nvSpPr>
        <p:spPr>
          <a:xfrm rot="19900239">
            <a:off x="11328086" y="452533"/>
            <a:ext cx="1146973" cy="181101"/>
          </a:xfrm>
          <a:prstGeom prst="roundRect">
            <a:avLst/>
          </a:prstGeom>
          <a:solidFill>
            <a:srgbClr val="FF2D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23796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364E2027095448CDCE2A5457A570D" ma:contentTypeVersion="7" ma:contentTypeDescription="Create a new document." ma:contentTypeScope="" ma:versionID="44decbe96e8ad1e429c8fb366d7665f9">
  <xsd:schema xmlns:xsd="http://www.w3.org/2001/XMLSchema" xmlns:xs="http://www.w3.org/2001/XMLSchema" xmlns:p="http://schemas.microsoft.com/office/2006/metadata/properties" xmlns:ns2="12098de1-246d-4b6d-a93e-10b0198e3ceb" targetNamespace="http://schemas.microsoft.com/office/2006/metadata/properties" ma:root="true" ma:fieldsID="ab30963cbcc20f31686cacf1383c656a" ns2:_="">
    <xsd:import namespace="12098de1-246d-4b6d-a93e-10b0198e3c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098de1-246d-4b6d-a93e-10b0198e3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B15A3D-0332-41ED-98CE-EE08D3854FA8}"/>
</file>

<file path=customXml/itemProps2.xml><?xml version="1.0" encoding="utf-8"?>
<ds:datastoreItem xmlns:ds="http://schemas.openxmlformats.org/officeDocument/2006/customXml" ds:itemID="{AA524F00-BB6B-40AA-A101-D6FFA7BF6C25}"/>
</file>

<file path=customXml/itemProps3.xml><?xml version="1.0" encoding="utf-8"?>
<ds:datastoreItem xmlns:ds="http://schemas.openxmlformats.org/officeDocument/2006/customXml" ds:itemID="{D2B7B853-0CC9-441B-85DA-11C4DE64330C}"/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1557</Words>
  <Application>Microsoft Macintosh PowerPoint</Application>
  <PresentationFormat>Widescreen</PresentationFormat>
  <Paragraphs>217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-webkit-standard</vt:lpstr>
      <vt:lpstr>Aptos</vt:lpstr>
      <vt:lpstr>Aptos Display</vt:lpstr>
      <vt:lpstr>Arial</vt:lpstr>
      <vt:lpstr>Menlo</vt:lpstr>
      <vt:lpstr>Times New Roman</vt:lpstr>
      <vt:lpstr>Office Theme</vt:lpstr>
      <vt:lpstr>Laravel Validations, Redirect, Logs, Eloquent Relationships</vt:lpstr>
      <vt:lpstr>Form Validation in Laravel</vt:lpstr>
      <vt:lpstr>Common Validation Rules</vt:lpstr>
      <vt:lpstr>Displaying Validation Errors in Blade</vt:lpstr>
      <vt:lpstr>Displaying Validation Errors in Blade</vt:lpstr>
      <vt:lpstr>Old Input Values (Sticky Forms)</vt:lpstr>
      <vt:lpstr>Manually Creating Validations</vt:lpstr>
      <vt:lpstr>HTTP Redirect in Laravel</vt:lpstr>
      <vt:lpstr>PowerPoint Presentation</vt:lpstr>
      <vt:lpstr>If with message:</vt:lpstr>
      <vt:lpstr>If redirect to Controller</vt:lpstr>
      <vt:lpstr>If with Data:</vt:lpstr>
      <vt:lpstr>HTTP Redirect with Flash Session Data</vt:lpstr>
      <vt:lpstr>Logging in Laravel</vt:lpstr>
      <vt:lpstr>Eloquent Relationships in Laravel</vt:lpstr>
      <vt:lpstr>Common Types of Eloquent Relationships</vt:lpstr>
      <vt:lpstr>Common Types of Eloquent Relationships</vt:lpstr>
      <vt:lpstr>Common Types of Eloquent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Napoleon Camus Hermoso</dc:creator>
  <cp:lastModifiedBy>Napoleon Camus Hermoso</cp:lastModifiedBy>
  <cp:revision>191</cp:revision>
  <dcterms:created xsi:type="dcterms:W3CDTF">2026-01-23T01:33:21Z</dcterms:created>
  <dcterms:modified xsi:type="dcterms:W3CDTF">2026-03-30T15:18:00Z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0x010100C81364E2027095448CDCE2A5457A570D</vt:lpwstr>
  </property>
</Properties>
</file>